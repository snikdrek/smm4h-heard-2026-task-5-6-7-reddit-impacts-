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0.jpg" ContentType="image/png"/>
  <Override PartName="/ppt/media/image11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43891200" cy="32918400"/>
  <p:notesSz cx="5800725" cy="9094788"/>
  <p:embeddedFontLst>
    <p:embeddedFont>
      <p:font typeface="Amaranth" panose="020B060402020202020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6E5F"/>
    <a:srgbClr val="FB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DB1E831-D77E-4F1B-A1B7-94251D76EA51}">
  <a:tblStyle styleId="{3DB1E831-D77E-4F1B-A1B7-94251D76EA5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-2460" y="-2208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66975" y="682100"/>
            <a:ext cx="3867325" cy="3410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80050" y="4320000"/>
            <a:ext cx="4640575" cy="409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580050" y="4320000"/>
            <a:ext cx="4640575" cy="40926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7063" y="682625"/>
            <a:ext cx="4546600" cy="34099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292475" y="10226675"/>
            <a:ext cx="37306250" cy="705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6583363" y="18653125"/>
            <a:ext cx="30724475" cy="841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lvl="0" algn="ctr">
              <a:spcBef>
                <a:spcPts val="3300"/>
              </a:spcBef>
              <a:spcAft>
                <a:spcPts val="0"/>
              </a:spcAft>
              <a:buClr>
                <a:schemeClr val="dk1"/>
              </a:buClr>
              <a:buSzPts val="16500"/>
              <a:buFont typeface="Arial"/>
              <a:buNone/>
              <a:defRPr/>
            </a:lvl1pPr>
            <a:lvl2pPr lvl="1" algn="ctr">
              <a:spcBef>
                <a:spcPts val="2880"/>
              </a:spcBef>
              <a:spcAft>
                <a:spcPts val="0"/>
              </a:spcAft>
              <a:buClr>
                <a:schemeClr val="dk1"/>
              </a:buClr>
              <a:buSzPts val="14400"/>
              <a:buFont typeface="Arial"/>
              <a:buNone/>
              <a:defRPr/>
            </a:lvl2pPr>
            <a:lvl3pPr lvl="2" algn="ctr">
              <a:spcBef>
                <a:spcPts val="2460"/>
              </a:spcBef>
              <a:spcAft>
                <a:spcPts val="0"/>
              </a:spcAft>
              <a:buClr>
                <a:schemeClr val="dk1"/>
              </a:buClr>
              <a:buSzPts val="12300"/>
              <a:buFont typeface="Arial"/>
              <a:buNone/>
              <a:defRPr/>
            </a:lvl3pPr>
            <a:lvl4pPr lvl="3" algn="ctr">
              <a:spcBef>
                <a:spcPts val="2060"/>
              </a:spcBef>
              <a:spcAft>
                <a:spcPts val="0"/>
              </a:spcAft>
              <a:buClr>
                <a:schemeClr val="dk1"/>
              </a:buClr>
              <a:buSzPts val="10300"/>
              <a:buFont typeface="Arial"/>
              <a:buNone/>
              <a:defRPr/>
            </a:lvl4pPr>
            <a:lvl5pPr lvl="4" algn="ctr">
              <a:spcBef>
                <a:spcPts val="2060"/>
              </a:spcBef>
              <a:spcAft>
                <a:spcPts val="0"/>
              </a:spcAft>
              <a:buClr>
                <a:schemeClr val="dk1"/>
              </a:buClr>
              <a:buSzPts val="10300"/>
              <a:buFont typeface="Arial"/>
              <a:buNone/>
              <a:defRPr/>
            </a:lvl5pPr>
            <a:lvl6pPr lvl="5" algn="ctr">
              <a:spcBef>
                <a:spcPts val="2060"/>
              </a:spcBef>
              <a:spcAft>
                <a:spcPts val="0"/>
              </a:spcAft>
              <a:buClr>
                <a:schemeClr val="dk1"/>
              </a:buClr>
              <a:buSzPts val="10300"/>
              <a:buFont typeface="Arial"/>
              <a:buNone/>
              <a:defRPr/>
            </a:lvl6pPr>
            <a:lvl7pPr lvl="6" algn="ctr">
              <a:spcBef>
                <a:spcPts val="2060"/>
              </a:spcBef>
              <a:spcAft>
                <a:spcPts val="0"/>
              </a:spcAft>
              <a:buClr>
                <a:schemeClr val="dk1"/>
              </a:buClr>
              <a:buSzPts val="10300"/>
              <a:buFont typeface="Arial"/>
              <a:buNone/>
              <a:defRPr/>
            </a:lvl7pPr>
            <a:lvl8pPr lvl="7" algn="ctr">
              <a:spcBef>
                <a:spcPts val="2060"/>
              </a:spcBef>
              <a:spcAft>
                <a:spcPts val="0"/>
              </a:spcAft>
              <a:buClr>
                <a:schemeClr val="dk1"/>
              </a:buClr>
              <a:buSzPts val="10300"/>
              <a:buFont typeface="Arial"/>
              <a:buNone/>
              <a:defRPr/>
            </a:lvl8pPr>
            <a:lvl9pPr lvl="8" algn="ctr">
              <a:spcBef>
                <a:spcPts val="2060"/>
              </a:spcBef>
              <a:spcAft>
                <a:spcPts val="0"/>
              </a:spcAft>
              <a:buClr>
                <a:schemeClr val="dk1"/>
              </a:buClr>
              <a:buSzPts val="103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2193925" y="29976762"/>
            <a:ext cx="102425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14995525" y="29976762"/>
            <a:ext cx="139001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31454725" y="29976762"/>
            <a:ext cx="102425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2193925" y="1317625"/>
            <a:ext cx="3950335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2193925" y="7680325"/>
            <a:ext cx="39503350" cy="21724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2193925" y="29976762"/>
            <a:ext cx="102425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14995525" y="29976762"/>
            <a:ext cx="139001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31454725" y="29976762"/>
            <a:ext cx="102425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3467100" y="21153438"/>
            <a:ext cx="37307838" cy="653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3467100" y="13952538"/>
            <a:ext cx="37307838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2193925" y="29976762"/>
            <a:ext cx="102425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14995525" y="29976762"/>
            <a:ext cx="139001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31454725" y="29976762"/>
            <a:ext cx="102425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2193925" y="1317625"/>
            <a:ext cx="3950335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2193925" y="7680325"/>
            <a:ext cx="19675475" cy="21724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22021800" y="7680325"/>
            <a:ext cx="19675475" cy="21724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2193925" y="29976762"/>
            <a:ext cx="102425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14995525" y="29976762"/>
            <a:ext cx="139001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31454725" y="29976762"/>
            <a:ext cx="102425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2193925" y="1317625"/>
            <a:ext cx="3950335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2193925" y="7369175"/>
            <a:ext cx="19392900" cy="307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2193925" y="10439400"/>
            <a:ext cx="19392900" cy="1896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22296438" y="7369175"/>
            <a:ext cx="19400838" cy="307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22296438" y="10439400"/>
            <a:ext cx="19400838" cy="1896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2193925" y="29976762"/>
            <a:ext cx="102425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14995525" y="29976762"/>
            <a:ext cx="139001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31454725" y="29976762"/>
            <a:ext cx="102425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2193925" y="1317625"/>
            <a:ext cx="3950335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2193925" y="29976762"/>
            <a:ext cx="102425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14995525" y="29976762"/>
            <a:ext cx="139001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31454725" y="29976762"/>
            <a:ext cx="102425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2193925" y="29976762"/>
            <a:ext cx="102425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14995525" y="29976762"/>
            <a:ext cx="139001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31454725" y="29976762"/>
            <a:ext cx="102425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2193925" y="1311275"/>
            <a:ext cx="14439900" cy="557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17160875" y="1311275"/>
            <a:ext cx="24536400" cy="28093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2193925" y="6888163"/>
            <a:ext cx="14439900" cy="225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2193925" y="29976762"/>
            <a:ext cx="102425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14995525" y="29976762"/>
            <a:ext cx="139001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31454725" y="29976762"/>
            <a:ext cx="102425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602663" y="23042562"/>
            <a:ext cx="26335038" cy="272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8602663" y="2941638"/>
            <a:ext cx="26335038" cy="19750088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602663" y="25763538"/>
            <a:ext cx="26335038" cy="3862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2193925" y="29976762"/>
            <a:ext cx="102425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14995525" y="29976762"/>
            <a:ext cx="139001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31454725" y="29976762"/>
            <a:ext cx="102425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2193925" y="1317625"/>
            <a:ext cx="3950335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11083131" y="-1208881"/>
            <a:ext cx="21724938" cy="3950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2193925" y="29976762"/>
            <a:ext cx="102425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14995525" y="29976762"/>
            <a:ext cx="139001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31454725" y="29976762"/>
            <a:ext cx="102425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22715538" y="10423526"/>
            <a:ext cx="28087638" cy="987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2887662" y="623888"/>
            <a:ext cx="28087638" cy="2947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2193925" y="29976762"/>
            <a:ext cx="102425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14995525" y="29976762"/>
            <a:ext cx="139001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31454725" y="29976762"/>
            <a:ext cx="102425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193925" y="1317625"/>
            <a:ext cx="3950335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193925" y="7680325"/>
            <a:ext cx="39503350" cy="21724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marL="457200" marR="0" lvl="0" indent="-1276350" algn="l" rtl="0">
              <a:spcBef>
                <a:spcPts val="3300"/>
              </a:spcBef>
              <a:spcAft>
                <a:spcPts val="0"/>
              </a:spcAft>
              <a:buClr>
                <a:schemeClr val="dk1"/>
              </a:buClr>
              <a:buSzPts val="16500"/>
              <a:buFont typeface="Arial"/>
              <a:buChar char="•"/>
              <a:defRPr sz="16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1143000" algn="l" rtl="0">
              <a:spcBef>
                <a:spcPts val="2880"/>
              </a:spcBef>
              <a:spcAft>
                <a:spcPts val="0"/>
              </a:spcAft>
              <a:buClr>
                <a:schemeClr val="dk1"/>
              </a:buClr>
              <a:buSzPts val="14400"/>
              <a:buFont typeface="Arial"/>
              <a:buChar char="–"/>
              <a:defRPr sz="1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1009650" algn="l" rtl="0">
              <a:spcBef>
                <a:spcPts val="2460"/>
              </a:spcBef>
              <a:spcAft>
                <a:spcPts val="0"/>
              </a:spcAft>
              <a:buClr>
                <a:schemeClr val="dk1"/>
              </a:buClr>
              <a:buSzPts val="12300"/>
              <a:buFont typeface="Arial"/>
              <a:buChar char="•"/>
              <a:defRPr sz="1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882650" algn="l" rtl="0">
              <a:spcBef>
                <a:spcPts val="2060"/>
              </a:spcBef>
              <a:spcAft>
                <a:spcPts val="0"/>
              </a:spcAft>
              <a:buClr>
                <a:schemeClr val="dk1"/>
              </a:buClr>
              <a:buSzPts val="10300"/>
              <a:buFont typeface="Arial"/>
              <a:buChar char="–"/>
              <a:defRPr sz="10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882650" algn="l" rtl="0">
              <a:spcBef>
                <a:spcPts val="2060"/>
              </a:spcBef>
              <a:spcAft>
                <a:spcPts val="0"/>
              </a:spcAft>
              <a:buClr>
                <a:schemeClr val="dk1"/>
              </a:buClr>
              <a:buSzPts val="10300"/>
              <a:buFont typeface="Arial"/>
              <a:buChar char="»"/>
              <a:defRPr sz="10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882650" algn="l" rtl="0">
              <a:spcBef>
                <a:spcPts val="2060"/>
              </a:spcBef>
              <a:spcAft>
                <a:spcPts val="0"/>
              </a:spcAft>
              <a:buClr>
                <a:schemeClr val="dk1"/>
              </a:buClr>
              <a:buSzPts val="10300"/>
              <a:buFont typeface="Arial"/>
              <a:buChar char="»"/>
              <a:defRPr sz="10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882650" algn="l" rtl="0">
              <a:spcBef>
                <a:spcPts val="2060"/>
              </a:spcBef>
              <a:spcAft>
                <a:spcPts val="0"/>
              </a:spcAft>
              <a:buClr>
                <a:schemeClr val="dk1"/>
              </a:buClr>
              <a:buSzPts val="10300"/>
              <a:buFont typeface="Arial"/>
              <a:buChar char="»"/>
              <a:defRPr sz="10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882650" algn="l" rtl="0">
              <a:spcBef>
                <a:spcPts val="2060"/>
              </a:spcBef>
              <a:spcAft>
                <a:spcPts val="0"/>
              </a:spcAft>
              <a:buClr>
                <a:schemeClr val="dk1"/>
              </a:buClr>
              <a:buSzPts val="10300"/>
              <a:buFont typeface="Arial"/>
              <a:buChar char="»"/>
              <a:defRPr sz="10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882650" algn="l" rtl="0">
              <a:spcBef>
                <a:spcPts val="2060"/>
              </a:spcBef>
              <a:spcAft>
                <a:spcPts val="0"/>
              </a:spcAft>
              <a:buClr>
                <a:schemeClr val="dk1"/>
              </a:buClr>
              <a:buSzPts val="10300"/>
              <a:buFont typeface="Arial"/>
              <a:buChar char="»"/>
              <a:defRPr sz="10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2193925" y="29976762"/>
            <a:ext cx="102425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14995525" y="29976762"/>
            <a:ext cx="139001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31454725" y="29976762"/>
            <a:ext cx="102425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0250" tIns="235125" rIns="470250" bIns="235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 rot="-5400000">
            <a:off x="-11074400" y="16459200"/>
            <a:ext cx="14274800" cy="393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 rot="5400000">
            <a:off x="40690800" y="16459200"/>
            <a:ext cx="14274800" cy="393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953250" y="33426400"/>
            <a:ext cx="29984700" cy="146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/>
          <p:nvPr/>
        </p:nvSpPr>
        <p:spPr>
          <a:xfrm>
            <a:off x="6953250" y="33997900"/>
            <a:ext cx="21945600" cy="1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Template ID: conceptualizingcobalt  Size: 48x36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jpg"/><Relationship Id="rId5" Type="http://schemas.openxmlformats.org/officeDocument/2006/relationships/image" Target="../media/image5.png"/><Relationship Id="rId10" Type="http://schemas.openxmlformats.org/officeDocument/2006/relationships/image" Target="../media/image10.jp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1E0E5"/>
            </a:gs>
          </a:gsLst>
          <a:lin ang="5400000" scaled="0"/>
        </a:gra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-48494" y="0"/>
            <a:ext cx="43939693" cy="6533048"/>
          </a:xfrm>
          <a:prstGeom prst="rect">
            <a:avLst/>
          </a:prstGeom>
          <a:gradFill flip="none" rotWithShape="1">
            <a:gsLst>
              <a:gs pos="0">
                <a:srgbClr val="426E5F">
                  <a:shade val="30000"/>
                  <a:satMod val="115000"/>
                </a:srgbClr>
              </a:gs>
              <a:gs pos="50000">
                <a:srgbClr val="426E5F">
                  <a:shade val="67500"/>
                  <a:satMod val="115000"/>
                </a:srgbClr>
              </a:gs>
              <a:gs pos="100000">
                <a:srgbClr val="426E5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3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-48492" y="31777692"/>
            <a:ext cx="43939693" cy="1140705"/>
          </a:xfrm>
          <a:prstGeom prst="rect">
            <a:avLst/>
          </a:prstGeom>
          <a:solidFill>
            <a:srgbClr val="426E5F"/>
          </a:solidFill>
          <a:ln>
            <a:noFill/>
          </a:ln>
        </p:spPr>
        <p:txBody>
          <a:bodyPr spcFirstLastPara="1" wrap="square" lIns="137150" tIns="68575" rIns="137150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3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-48494" y="574810"/>
            <a:ext cx="43558694" cy="25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8000" tIns="64000" rIns="128000" bIns="640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0"/>
              <a:buFont typeface="Amaranth"/>
              <a:buNone/>
            </a:pPr>
            <a:r>
              <a:rPr lang="en-US" sz="6000" b="0" i="0" u="none" strike="noStrike" baseline="0" dirty="0" err="1">
                <a:solidFill>
                  <a:srgbClr val="FBFD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CUET_DiagNLP</a:t>
            </a:r>
            <a:r>
              <a:rPr lang="en-US" sz="6000" b="0" i="0" u="none" strike="noStrike" baseline="0" dirty="0">
                <a:solidFill>
                  <a:srgbClr val="FBFD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#SMM4H-HeaRD 2026: Per-Axis TNM Staging from Pathology Reports</a:t>
            </a:r>
            <a:br>
              <a:rPr lang="en-US" sz="6000" b="0" i="0" u="none" strike="noStrike" baseline="0" dirty="0">
                <a:solidFill>
                  <a:srgbClr val="FBFD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b="0" i="0" u="none" strike="noStrike" baseline="0" dirty="0">
                <a:solidFill>
                  <a:srgbClr val="FBFD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Opioid Impact Span Detection from Social Media</a:t>
            </a:r>
            <a:endParaRPr lang="en-US" sz="6000" dirty="0">
              <a:solidFill>
                <a:srgbClr val="FBFDF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81000" y="3421697"/>
            <a:ext cx="43129200" cy="2976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8000" tIns="64000" rIns="128000" bIns="640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dirty="0">
                <a:solidFill>
                  <a:srgbClr val="FBFD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Shuva Dey, Priyangshu Barua, Dr. A. H. M. Ashfak Habib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 i="1" dirty="0">
                <a:solidFill>
                  <a:srgbClr val="FBFD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 b="1" dirty="0">
                <a:solidFill>
                  <a:srgbClr val="FBFD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Chittagong University of Engineering and Technology, Bangladesh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 dirty="0">
                <a:solidFill>
                  <a:srgbClr val="FBFD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{u2104001, u2104033}@student.cuet.ac.bd, ashfak@cuet.ac.bd</a:t>
            </a:r>
          </a:p>
        </p:txBody>
      </p:sp>
      <p:sp>
        <p:nvSpPr>
          <p:cNvPr id="92" name="Google Shape;92;p13"/>
          <p:cNvSpPr/>
          <p:nvPr/>
        </p:nvSpPr>
        <p:spPr>
          <a:xfrm>
            <a:off x="11535613" y="9443225"/>
            <a:ext cx="18971100" cy="784200"/>
          </a:xfrm>
          <a:prstGeom prst="rect">
            <a:avLst/>
          </a:prstGeom>
          <a:solidFill>
            <a:srgbClr val="426E5F"/>
          </a:solidFill>
          <a:ln>
            <a:noFill/>
          </a:ln>
        </p:spPr>
        <p:txBody>
          <a:bodyPr spcFirstLastPara="1" wrap="square" lIns="274300" tIns="68575" rIns="274300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chemeClr val="lt1"/>
                </a:solidFill>
                <a:latin typeface="Times New Roman" panose="02020603050405020304" pitchFamily="18" charset="0"/>
                <a:ea typeface="Amaranth"/>
                <a:cs typeface="Times New Roman" panose="02020603050405020304" pitchFamily="18" charset="0"/>
                <a:sym typeface="Amaranth"/>
              </a:rPr>
              <a:t>Dataset Analysis</a:t>
            </a:r>
            <a:endParaRPr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1399248" y="10279918"/>
            <a:ext cx="19093206" cy="1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75" rIns="137150" bIns="68575" anchor="t" anchorCtr="0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6 uses free-text TCGA pathology reports on three axes — T (T1–T4), N (N0–N3), M (M0–M1) — with heavy missingness; M1 is just 266 of 3,916 samples. Task 7 uses first-person Reddit posts with five BIO labels; SocialImpacts = 575/1,414 tokens (40.7%).</a:t>
            </a:r>
          </a:p>
        </p:txBody>
      </p:sp>
      <p:sp>
        <p:nvSpPr>
          <p:cNvPr id="94" name="Google Shape;94;p13"/>
          <p:cNvSpPr/>
          <p:nvPr/>
        </p:nvSpPr>
        <p:spPr>
          <a:xfrm>
            <a:off x="31224056" y="7125250"/>
            <a:ext cx="11935500" cy="784200"/>
          </a:xfrm>
          <a:prstGeom prst="rect">
            <a:avLst/>
          </a:prstGeom>
          <a:solidFill>
            <a:srgbClr val="426E5F"/>
          </a:solidFill>
          <a:ln>
            <a:noFill/>
          </a:ln>
        </p:spPr>
        <p:txBody>
          <a:bodyPr spcFirstLastPara="1" wrap="square" lIns="274300" tIns="68575" rIns="274300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Amaranth"/>
                <a:cs typeface="Times New Roman" panose="02020603050405020304" pitchFamily="18" charset="0"/>
                <a:sym typeface="Amaranth"/>
              </a:rPr>
              <a:t>Methodology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31487743" y="25364623"/>
            <a:ext cx="11698874" cy="784200"/>
          </a:xfrm>
          <a:prstGeom prst="rect">
            <a:avLst/>
          </a:prstGeom>
          <a:solidFill>
            <a:srgbClr val="426E5F"/>
          </a:solidFill>
          <a:ln>
            <a:noFill/>
          </a:ln>
        </p:spPr>
        <p:txBody>
          <a:bodyPr spcFirstLastPara="1" wrap="square" lIns="274300" tIns="68575" rIns="274300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chemeClr val="lt1"/>
                </a:solidFill>
                <a:latin typeface="Times New Roman" panose="02020603050405020304" pitchFamily="18" charset="0"/>
                <a:ea typeface="Amaranth"/>
                <a:cs typeface="Times New Roman" panose="02020603050405020304" pitchFamily="18" charset="0"/>
                <a:sym typeface="Amaranth"/>
              </a:rPr>
              <a:t>Conclusion</a:t>
            </a:r>
            <a:endParaRPr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11599304" y="7205125"/>
            <a:ext cx="18971100" cy="784200"/>
          </a:xfrm>
          <a:prstGeom prst="rect">
            <a:avLst/>
          </a:prstGeom>
          <a:solidFill>
            <a:srgbClr val="426E5F"/>
          </a:solidFill>
          <a:ln>
            <a:noFill/>
          </a:ln>
        </p:spPr>
        <p:txBody>
          <a:bodyPr spcFirstLastPara="1" wrap="square" lIns="274300" tIns="68575" rIns="274300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chemeClr val="lt1"/>
                </a:solidFill>
                <a:latin typeface="Times New Roman" panose="02020603050405020304" pitchFamily="18" charset="0"/>
                <a:ea typeface="Amaranth"/>
                <a:cs typeface="Times New Roman" panose="02020603050405020304" pitchFamily="18" charset="0"/>
                <a:sym typeface="Amaranth"/>
              </a:rPr>
              <a:t>Main Contribution</a:t>
            </a:r>
            <a:endParaRPr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11599288" y="8080104"/>
            <a:ext cx="18971116" cy="1246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75" rIns="137150" bIns="68575" anchor="t" anchorCtr="0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domain-adapted transformer systems with task-specific loss design: GatorTron-base trained per TNM axis (Task 6) and a boundary-aware DeBERTa-large + PubMedBERT ensemble (Task 7).</a:t>
            </a:r>
          </a:p>
        </p:txBody>
      </p:sp>
      <p:sp>
        <p:nvSpPr>
          <p:cNvPr id="98" name="Google Shape;98;p13"/>
          <p:cNvSpPr txBox="1"/>
          <p:nvPr/>
        </p:nvSpPr>
        <p:spPr>
          <a:xfrm>
            <a:off x="31486952" y="26415806"/>
            <a:ext cx="11698874" cy="507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Task-specific loss design and data augmentation proved highly effective for both tasks.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6: Focal Loss and class weights help, but M1 scarcity remains the main challenge.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7: The </a:t>
            </a:r>
            <a:r>
              <a:rPr lang="en-US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DeBERTa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PubMedBERT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ensemble outperforms </a:t>
            </a:r>
            <a:r>
              <a:rPr lang="en-US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DeBERTa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alone; long </a:t>
            </a:r>
            <a:r>
              <a:rPr lang="en-US" sz="3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SocialImpacts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spans remain difficult.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 includes span-level objectives for Task 7 and semi-supervised learning for Task 6.</a:t>
            </a:r>
          </a:p>
        </p:txBody>
      </p:sp>
      <p:sp>
        <p:nvSpPr>
          <p:cNvPr id="99" name="Google Shape;99;p13"/>
          <p:cNvSpPr/>
          <p:nvPr/>
        </p:nvSpPr>
        <p:spPr>
          <a:xfrm>
            <a:off x="731540" y="7125252"/>
            <a:ext cx="10058400" cy="784200"/>
          </a:xfrm>
          <a:prstGeom prst="rect">
            <a:avLst/>
          </a:prstGeom>
          <a:solidFill>
            <a:srgbClr val="426E5F"/>
          </a:solidFill>
          <a:ln>
            <a:noFill/>
          </a:ln>
        </p:spPr>
        <p:txBody>
          <a:bodyPr spcFirstLastPara="1" wrap="square" lIns="274300" tIns="68575" rIns="274300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lt1"/>
                </a:solidFill>
                <a:latin typeface="Times New Roman" panose="02020603050405020304" pitchFamily="18" charset="0"/>
                <a:ea typeface="Amaranth"/>
                <a:cs typeface="Times New Roman" panose="02020603050405020304" pitchFamily="18" charset="0"/>
                <a:sym typeface="Amaranth"/>
              </a:rPr>
              <a:t>Objectives</a:t>
            </a:r>
            <a:endParaRPr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687433" y="7929349"/>
            <a:ext cx="10072513" cy="3322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75" rIns="137150" bIns="68575" anchor="t" anchorCtr="0">
            <a:no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Tackle two #SMM4H-HeaRD 2026 tasks that extract health signals from unstructured text.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6: per-axis TNM staging (T, N, M) from free-text TCGA pathology reports.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7: opioid ClinicalImpacts / SocialImpacts span detection in Reddit posts.</a:t>
            </a:r>
          </a:p>
        </p:txBody>
      </p:sp>
      <p:sp>
        <p:nvSpPr>
          <p:cNvPr id="101" name="Google Shape;101;p13"/>
          <p:cNvSpPr/>
          <p:nvPr/>
        </p:nvSpPr>
        <p:spPr>
          <a:xfrm>
            <a:off x="731540" y="11578185"/>
            <a:ext cx="10058400" cy="784200"/>
          </a:xfrm>
          <a:prstGeom prst="rect">
            <a:avLst/>
          </a:prstGeom>
          <a:solidFill>
            <a:srgbClr val="426E5F"/>
          </a:solidFill>
          <a:ln>
            <a:noFill/>
          </a:ln>
        </p:spPr>
        <p:txBody>
          <a:bodyPr spcFirstLastPara="1" wrap="square" lIns="274300" tIns="68575" rIns="274300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lt1"/>
                </a:solidFill>
                <a:latin typeface="Times New Roman" panose="02020603050405020304" pitchFamily="18" charset="0"/>
                <a:ea typeface="Amaranth"/>
                <a:cs typeface="Times New Roman" panose="02020603050405020304" pitchFamily="18" charset="0"/>
                <a:sym typeface="Amaranth"/>
              </a:rPr>
              <a:t>Introduction</a:t>
            </a:r>
            <a:endParaRPr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687433" y="12361501"/>
            <a:ext cx="10072513" cy="396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75" rIns="137150" bIns="68575" anchor="t" anchorCtr="0">
            <a:no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#SMM4H-HeaRD 2026 tasks span biomedical NLP, clinical text mining, and social-media health surveillance, where key signals sit in unstructured text.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TNM stage is locked inside variable-length TCGA reports (M1 &lt; 7% of samples), while opioid consequences appear informally on social media with sharp class imbalance.</a:t>
            </a:r>
          </a:p>
        </p:txBody>
      </p:sp>
      <p:sp>
        <p:nvSpPr>
          <p:cNvPr id="103" name="Google Shape;103;p13"/>
          <p:cNvSpPr/>
          <p:nvPr/>
        </p:nvSpPr>
        <p:spPr>
          <a:xfrm>
            <a:off x="684011" y="19898993"/>
            <a:ext cx="30365620" cy="784200"/>
          </a:xfrm>
          <a:prstGeom prst="rect">
            <a:avLst/>
          </a:prstGeom>
          <a:solidFill>
            <a:srgbClr val="426E5F"/>
          </a:solidFill>
          <a:ln>
            <a:noFill/>
          </a:ln>
        </p:spPr>
        <p:txBody>
          <a:bodyPr spcFirstLastPara="1" wrap="square" lIns="274300" tIns="68575" rIns="274300" bIns="68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Amaranth"/>
                <a:cs typeface="Times New Roman" panose="02020603050405020304" pitchFamily="18" charset="0"/>
                <a:sym typeface="Amaranth"/>
              </a:rPr>
              <a:t>Results</a:t>
            </a:r>
            <a:endParaRPr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684011" y="16818561"/>
            <a:ext cx="10065476" cy="2354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75" rIns="137150" bIns="68575" anchor="t" anchorCtr="0"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Pathology reports often exceed 512 tokens with severe label skew, needing long-document encoders.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NER transfers poorly to social media due to informal text and fuzzy span boundaries.</a:t>
            </a:r>
          </a:p>
        </p:txBody>
      </p:sp>
      <p:sp>
        <p:nvSpPr>
          <p:cNvPr id="108" name="Google Shape;108;p13"/>
          <p:cNvSpPr txBox="1"/>
          <p:nvPr/>
        </p:nvSpPr>
        <p:spPr>
          <a:xfrm>
            <a:off x="11399248" y="14920000"/>
            <a:ext cx="8776350" cy="5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600" dirty="0">
                <a:solidFill>
                  <a:schemeClr val="dk1"/>
                </a:solidFill>
                <a:latin typeface="Times New Roman" panose="02020603050405020304" pitchFamily="18" charset="0"/>
                <a:ea typeface="Titillium Web"/>
                <a:cs typeface="Times New Roman" panose="02020603050405020304" pitchFamily="18" charset="0"/>
                <a:sym typeface="Titillium Web"/>
              </a:rPr>
              <a:t>Table 1: </a:t>
            </a:r>
            <a:r>
              <a:rPr lang="en-US" sz="3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6 dataset splits.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21161124" y="14920000"/>
            <a:ext cx="9331330" cy="5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600" dirty="0">
                <a:solidFill>
                  <a:schemeClr val="dk1"/>
                </a:solidFill>
                <a:latin typeface="Times New Roman" panose="02020603050405020304" pitchFamily="18" charset="0"/>
                <a:ea typeface="Titillium Web"/>
                <a:cs typeface="Times New Roman" panose="02020603050405020304" pitchFamily="18" charset="0"/>
                <a:sym typeface="Titillium Web"/>
              </a:rPr>
              <a:t>Table 3: </a:t>
            </a:r>
            <a:r>
              <a:rPr lang="en-US" sz="3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7 dataset statistics.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13195851" y="19200000"/>
            <a:ext cx="155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600" dirty="0">
                <a:solidFill>
                  <a:schemeClr val="dk1"/>
                </a:solidFill>
                <a:latin typeface="Times New Roman" panose="02020603050405020304" pitchFamily="18" charset="0"/>
                <a:ea typeface="Titillium Web"/>
                <a:cs typeface="Times New Roman" panose="02020603050405020304" pitchFamily="18" charset="0"/>
                <a:sym typeface="Titillium Web"/>
              </a:rPr>
              <a:t>Table 2: </a:t>
            </a:r>
            <a:r>
              <a:rPr lang="en-US" sz="3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6 training label distribution per TNM axis (T, N, M).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31487743" y="18939287"/>
            <a:ext cx="11571030" cy="6320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7 — DeBERTa-large + PubMedBERT (two seeds each) are fine-tuned for token classification and combined by uniform-weight logit averaging.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Boundary-aware loss L = L_CE + (λ−1)L_B (λ=1.5) penalizes span-start misses; SocialImpacts weights ×1.35.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Entity-replacement augmentation swaps spans with curated synonyms (23 clinical, 20 social), +~30% data.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first-person filter (i, i'm, my, me, myself, we, our) forces all-O on third-person posts.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 consistency post-processing cleans the predicted spans.</a:t>
            </a:r>
          </a:p>
        </p:txBody>
      </p:sp>
      <p:pic>
        <p:nvPicPr>
          <p:cNvPr id="12" name="table">
            <a:extLst>
              <a:ext uri="{FF2B5EF4-FFF2-40B4-BE49-F238E27FC236}">
                <a16:creationId xmlns:a16="http://schemas.microsoft.com/office/drawing/2014/main" id="{1D8423CB-65E3-9D81-E3DC-13FBC9516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9248" y="12150000"/>
            <a:ext cx="8776350" cy="2700000"/>
          </a:xfrm>
          <a:prstGeom prst="rect">
            <a:avLst/>
          </a:prstGeom>
        </p:spPr>
      </p:pic>
      <p:pic>
        <p:nvPicPr>
          <p:cNvPr id="200" name="table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61124" y="12150000"/>
            <a:ext cx="8931330" cy="2700000"/>
          </a:xfrm>
          <a:prstGeom prst="rect">
            <a:avLst/>
          </a:prstGeom>
        </p:spPr>
      </p:pic>
      <p:pic>
        <p:nvPicPr>
          <p:cNvPr id="13" name="table">
            <a:extLst>
              <a:ext uri="{FF2B5EF4-FFF2-40B4-BE49-F238E27FC236}">
                <a16:creationId xmlns:a16="http://schemas.microsoft.com/office/drawing/2014/main" id="{3FD302F2-730F-EDDD-39A8-D50EA01502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80351" y="15520000"/>
            <a:ext cx="12931000" cy="3650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E63EA7E-89E1-7E19-0A1A-043775B2ED10}"/>
              </a:ext>
            </a:extLst>
          </p:cNvPr>
          <p:cNvSpPr txBox="1"/>
          <p:nvPr/>
        </p:nvSpPr>
        <p:spPr>
          <a:xfrm>
            <a:off x="31273733" y="18071637"/>
            <a:ext cx="120491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tillium Web"/>
                <a:cs typeface="Times New Roman" panose="02020603050405020304" pitchFamily="18" charset="0"/>
                <a:sym typeface="Titillium Web"/>
              </a:rPr>
              <a:t>Figure 1: System pipeline for Task 6 (</a:t>
            </a:r>
            <a:r>
              <a:rPr lang="en-US" sz="3600" dirty="0">
                <a:latin typeface="Times New Roman" panose="02020603050405020304" pitchFamily="18" charset="0"/>
                <a:ea typeface="Titillium Web"/>
                <a:cs typeface="Times New Roman" panose="02020603050405020304" pitchFamily="18" charset="0"/>
                <a:sym typeface="Titillium Web"/>
              </a:rPr>
              <a:t>left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tillium Web"/>
                <a:cs typeface="Times New Roman" panose="02020603050405020304" pitchFamily="18" charset="0"/>
                <a:sym typeface="Titillium Web"/>
              </a:rPr>
              <a:t>) and Task 7 (</a:t>
            </a:r>
            <a:r>
              <a:rPr lang="en-US" sz="3600" dirty="0">
                <a:latin typeface="Times New Roman" panose="02020603050405020304" pitchFamily="18" charset="0"/>
                <a:ea typeface="Titillium Web"/>
                <a:cs typeface="Times New Roman" panose="02020603050405020304" pitchFamily="18" charset="0"/>
                <a:sym typeface="Titillium Web"/>
              </a:rPr>
              <a:t>right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Titillium Web"/>
                <a:cs typeface="Times New Roman" panose="02020603050405020304" pitchFamily="18" charset="0"/>
                <a:sym typeface="Titillium Web"/>
              </a:rPr>
              <a:t>).</a:t>
            </a:r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25" name="table">
            <a:extLst>
              <a:ext uri="{FF2B5EF4-FFF2-40B4-BE49-F238E27FC236}">
                <a16:creationId xmlns:a16="http://schemas.microsoft.com/office/drawing/2014/main" id="{FA766DE1-EFDC-EB47-C9F2-EBC25C93B1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272" y="21306756"/>
            <a:ext cx="10263244" cy="5161243"/>
          </a:xfrm>
          <a:prstGeom prst="rect">
            <a:avLst/>
          </a:prstGeom>
          <a:ln>
            <a:noFill/>
          </a:ln>
        </p:spPr>
      </p:pic>
      <p:sp>
        <p:nvSpPr>
          <p:cNvPr id="26" name="TextBox 2">
            <a:extLst>
              <a:ext uri="{FF2B5EF4-FFF2-40B4-BE49-F238E27FC236}">
                <a16:creationId xmlns:a16="http://schemas.microsoft.com/office/drawing/2014/main" id="{EE8A849E-5541-26C7-5737-AD05C6131635}"/>
              </a:ext>
            </a:extLst>
          </p:cNvPr>
          <p:cNvSpPr txBox="1"/>
          <p:nvPr/>
        </p:nvSpPr>
        <p:spPr>
          <a:xfrm>
            <a:off x="731514" y="26415175"/>
            <a:ext cx="104089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6: Task 6 macro / micro-F1 by TNM axis and evaluation set.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DF1416AA-58FC-6432-2C27-F64CE2C6ECE9}"/>
              </a:ext>
            </a:extLst>
          </p:cNvPr>
          <p:cNvSpPr txBox="1"/>
          <p:nvPr/>
        </p:nvSpPr>
        <p:spPr>
          <a:xfrm>
            <a:off x="714207" y="20622211"/>
            <a:ext cx="10328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6: TNM Staging</a:t>
            </a:r>
          </a:p>
        </p:txBody>
      </p:sp>
      <p:sp>
        <p:nvSpPr>
          <p:cNvPr id="30" name="TextBox 7">
            <a:extLst>
              <a:ext uri="{FF2B5EF4-FFF2-40B4-BE49-F238E27FC236}">
                <a16:creationId xmlns:a16="http://schemas.microsoft.com/office/drawing/2014/main" id="{8835320B-CF55-6128-62B3-5F5A4A0EC31E}"/>
              </a:ext>
            </a:extLst>
          </p:cNvPr>
          <p:cNvSpPr txBox="1"/>
          <p:nvPr/>
        </p:nvSpPr>
        <p:spPr>
          <a:xfrm>
            <a:off x="6497228" y="30495046"/>
            <a:ext cx="48212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Task 6 macro-F1 by axis — ours vs. baseline.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FB33A6-91FF-2205-1A96-BE681DB9A982}"/>
              </a:ext>
            </a:extLst>
          </p:cNvPr>
          <p:cNvSpPr txBox="1"/>
          <p:nvPr/>
        </p:nvSpPr>
        <p:spPr>
          <a:xfrm>
            <a:off x="17365881" y="30390041"/>
            <a:ext cx="44273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3: Task 7 strict / relaxed F1 across systems.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D06E37-CE9B-D0A3-7D32-50A4025454C9}"/>
              </a:ext>
            </a:extLst>
          </p:cNvPr>
          <p:cNvSpPr txBox="1"/>
          <p:nvPr/>
        </p:nvSpPr>
        <p:spPr>
          <a:xfrm>
            <a:off x="11535612" y="20584453"/>
            <a:ext cx="9828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7: Span Detection</a:t>
            </a:r>
          </a:p>
        </p:txBody>
      </p:sp>
      <p:pic>
        <p:nvPicPr>
          <p:cNvPr id="44" name="table">
            <a:extLst>
              <a:ext uri="{FF2B5EF4-FFF2-40B4-BE49-F238E27FC236}">
                <a16:creationId xmlns:a16="http://schemas.microsoft.com/office/drawing/2014/main" id="{0EB30356-9835-8C5F-DBD9-7A56F9584D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9333" y="21240216"/>
            <a:ext cx="9818984" cy="5252790"/>
          </a:xfrm>
          <a:prstGeom prst="rect">
            <a:avLst/>
          </a:prstGeom>
          <a:ln>
            <a:noFill/>
          </a:ln>
        </p:spPr>
      </p:pic>
      <p:sp>
        <p:nvSpPr>
          <p:cNvPr id="45" name="TextBox 8">
            <a:extLst>
              <a:ext uri="{FF2B5EF4-FFF2-40B4-BE49-F238E27FC236}">
                <a16:creationId xmlns:a16="http://schemas.microsoft.com/office/drawing/2014/main" id="{03FE4970-AD8C-374D-14B9-E6CB0A5DE807}"/>
              </a:ext>
            </a:extLst>
          </p:cNvPr>
          <p:cNvSpPr txBox="1"/>
          <p:nvPr/>
        </p:nvSpPr>
        <p:spPr>
          <a:xfrm>
            <a:off x="11623524" y="26534570"/>
            <a:ext cx="95870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7: Task 7 strict / relaxed F1 vs. task mean and median.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AA9F654-0907-A36C-D38A-8F0A4C074D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5693" y="27077429"/>
            <a:ext cx="4221823" cy="3482054"/>
          </a:xfrm>
          <a:prstGeom prst="rect">
            <a:avLst/>
          </a:prstGeom>
        </p:spPr>
      </p:pic>
      <p:pic>
        <p:nvPicPr>
          <p:cNvPr id="52" name="table">
            <a:extLst>
              <a:ext uri="{FF2B5EF4-FFF2-40B4-BE49-F238E27FC236}">
                <a16:creationId xmlns:a16="http://schemas.microsoft.com/office/drawing/2014/main" id="{D38D8856-5576-448B-CD29-AB0BE17107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93200" y="21240216"/>
            <a:ext cx="9303975" cy="5252790"/>
          </a:xfrm>
          <a:prstGeom prst="rect">
            <a:avLst/>
          </a:prstGeom>
          <a:ln>
            <a:noFill/>
          </a:ln>
        </p:spPr>
      </p:pic>
      <p:sp>
        <p:nvSpPr>
          <p:cNvPr id="53" name="TextBox 8">
            <a:extLst>
              <a:ext uri="{FF2B5EF4-FFF2-40B4-BE49-F238E27FC236}">
                <a16:creationId xmlns:a16="http://schemas.microsoft.com/office/drawing/2014/main" id="{EFB4EA26-00E8-3535-5312-F28AF37A67C2}"/>
              </a:ext>
            </a:extLst>
          </p:cNvPr>
          <p:cNvSpPr txBox="1"/>
          <p:nvPr/>
        </p:nvSpPr>
        <p:spPr>
          <a:xfrm>
            <a:off x="21762671" y="26553932"/>
            <a:ext cx="95163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8: Per-entity precision, recall, and span coverage.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3">
            <a:extLst>
              <a:ext uri="{FF2B5EF4-FFF2-40B4-BE49-F238E27FC236}">
                <a16:creationId xmlns:a16="http://schemas.microsoft.com/office/drawing/2014/main" id="{B9FDE025-9B64-4132-23B8-8A748A408C67}"/>
              </a:ext>
            </a:extLst>
          </p:cNvPr>
          <p:cNvSpPr txBox="1"/>
          <p:nvPr/>
        </p:nvSpPr>
        <p:spPr>
          <a:xfrm>
            <a:off x="27258039" y="30366662"/>
            <a:ext cx="39660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4: Precision and recall by entity type.</a:t>
            </a:r>
          </a:p>
          <a:p>
            <a:pPr algn="ctr"/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9">
            <a:extLst>
              <a:ext uri="{FF2B5EF4-FFF2-40B4-BE49-F238E27FC236}">
                <a16:creationId xmlns:a16="http://schemas.microsoft.com/office/drawing/2014/main" id="{743C4F64-E74E-EB02-32C1-1FCB9F9842A0}"/>
              </a:ext>
            </a:extLst>
          </p:cNvPr>
          <p:cNvSpPr txBox="1"/>
          <p:nvPr/>
        </p:nvSpPr>
        <p:spPr>
          <a:xfrm>
            <a:off x="21782560" y="20561359"/>
            <a:ext cx="9303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7: Per-Entity Analysis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FD6852C-D2BF-E3C6-7A35-E7D81902EDE3}"/>
              </a:ext>
            </a:extLst>
          </p:cNvPr>
          <p:cNvSpPr txBox="1"/>
          <p:nvPr/>
        </p:nvSpPr>
        <p:spPr>
          <a:xfrm>
            <a:off x="684011" y="27110000"/>
            <a:ext cx="578817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6: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GatorTron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-base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reaches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macro-F1 0.774 on validation and 0.954 on test set 1. On the hard test set 2 it scores 0.705, beating the baseline (0.533) by 0.172. M-stage trails T and N due to M1 scarcity.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2200C4B-24B0-12A9-E2C4-8DC620A9FA7C}"/>
              </a:ext>
            </a:extLst>
          </p:cNvPr>
          <p:cNvSpPr txBox="1"/>
          <p:nvPr/>
        </p:nvSpPr>
        <p:spPr>
          <a:xfrm>
            <a:off x="11562654" y="27162965"/>
            <a:ext cx="5626668" cy="401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7: the DeBERTa + PubMedBERT ensemble reaches strict F1 0.51 and relaxed F1 0.60 on test, above the task mean (0.46 / 0.55) and median (0.48 / 0.58). Gains over DeBERTa-only are precision-driven.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0B6554C-C341-B621-6B76-3BC68E3C3819}"/>
              </a:ext>
            </a:extLst>
          </p:cNvPr>
          <p:cNvSpPr txBox="1"/>
          <p:nvPr/>
        </p:nvSpPr>
        <p:spPr>
          <a:xfrm>
            <a:off x="21793199" y="27133696"/>
            <a:ext cx="528828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8: ClinicalImpacts precision (0.739) exceeds SocialImpacts (0.719); overall P 0.734 / R 0.500 over 182/364 spans. PubMedBERT trades social recall for clinical precision.</a:t>
            </a:r>
          </a:p>
        </p:txBody>
      </p:sp>
      <p:sp>
        <p:nvSpPr>
          <p:cNvPr id="73" name="Google Shape;113;p13">
            <a:extLst>
              <a:ext uri="{FF2B5EF4-FFF2-40B4-BE49-F238E27FC236}">
                <a16:creationId xmlns:a16="http://schemas.microsoft.com/office/drawing/2014/main" id="{38D08EF2-E5C0-C2D0-85A1-CDDDD8ED00EB}"/>
              </a:ext>
            </a:extLst>
          </p:cNvPr>
          <p:cNvSpPr txBox="1"/>
          <p:nvPr/>
        </p:nvSpPr>
        <p:spPr>
          <a:xfrm>
            <a:off x="31224055" y="7989325"/>
            <a:ext cx="11935499" cy="4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GatorTron-base (345M) is fine-tuned per TNM axis with a [CLS]–mean-pool GELU head and multi-dropout. TNM abbreviations are expanded (pT2 → pathologic tumor T2), and training uses Focal Loss (γ=2) with per-class weights and AdamW.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7DF3A124-74E8-F845-B84E-B1059FF223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93200" y="16306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13" descr="Bar chart of Task 7 strict and relaxed F1 across systems">
            <a:extLst>
              <a:ext uri="{FF2B5EF4-FFF2-40B4-BE49-F238E27FC236}">
                <a16:creationId xmlns:a16="http://schemas.microsoft.com/office/drawing/2014/main" id="{88E2A94D-50EB-F74C-C32D-BC9DB733FB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414685" y="27246871"/>
            <a:ext cx="3949021" cy="3143170"/>
          </a:xfrm>
          <a:prstGeom prst="rect">
            <a:avLst/>
          </a:prstGeom>
        </p:spPr>
      </p:pic>
      <p:pic>
        <p:nvPicPr>
          <p:cNvPr id="18" name="Picture 17" descr="Bar chart of precision and recall by entity type">
            <a:extLst>
              <a:ext uri="{FF2B5EF4-FFF2-40B4-BE49-F238E27FC236}">
                <a16:creationId xmlns:a16="http://schemas.microsoft.com/office/drawing/2014/main" id="{C4D76E34-8B91-7A6D-3670-E380098F21E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258039" y="27272783"/>
            <a:ext cx="3966016" cy="3117258"/>
          </a:xfrm>
          <a:prstGeom prst="rect">
            <a:avLst/>
          </a:prstGeom>
        </p:spPr>
      </p:pic>
      <p:pic>
        <p:nvPicPr>
          <p:cNvPr id="4" name="Image 0">
            <a:extLst>
              <a:ext uri="{FF2B5EF4-FFF2-40B4-BE49-F238E27FC236}">
                <a16:creationId xmlns:a16="http://schemas.microsoft.com/office/drawing/2014/main" id="{722F4D28-A9DC-9AB4-F106-4F271E6AD1F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238312" y="11067642"/>
            <a:ext cx="6103482" cy="6782676"/>
          </a:xfrm>
          <a:prstGeom prst="rect">
            <a:avLst/>
          </a:prstGeom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08358BFD-DE1B-325E-F743-DB97DF645CF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891371" y="11067642"/>
            <a:ext cx="6268183" cy="67826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Verve">
      <a:dk1>
        <a:srgbClr val="000000"/>
      </a:dk1>
      <a:lt1>
        <a:srgbClr val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780</Words>
  <Application>Microsoft Office PowerPoint</Application>
  <PresentationFormat>Custom</PresentationFormat>
  <Paragraphs>47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Amaranth</vt:lpstr>
      <vt:lpstr>Times New Roman</vt:lpstr>
      <vt:lpstr>Wingdings</vt:lpstr>
      <vt:lpstr>Default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Priyangshu Barua Swarna</cp:lastModifiedBy>
  <cp:revision>16</cp:revision>
  <dcterms:modified xsi:type="dcterms:W3CDTF">2026-06-25T19:02:49Z</dcterms:modified>
</cp:coreProperties>
</file>